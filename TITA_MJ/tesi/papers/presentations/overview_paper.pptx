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tamaran"/>
      <p:regular r:id="rId18"/>
      <p:bold r:id="rId19"/>
    </p:embeddedFont>
    <p:embeddedFont>
      <p:font typeface="Ralew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11" Type="http://schemas.openxmlformats.org/officeDocument/2006/relationships/slide" Target="slides/slide6.xml"/><Relationship Id="rId22" Type="http://schemas.openxmlformats.org/officeDocument/2006/relationships/font" Target="fonts/Raleway-italic.fntdata"/><Relationship Id="rId10" Type="http://schemas.openxmlformats.org/officeDocument/2006/relationships/slide" Target="slides/slide5.xml"/><Relationship Id="rId21" Type="http://schemas.openxmlformats.org/officeDocument/2006/relationships/font" Target="fonts/Ralew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tamaran-bold.fntdata"/><Relationship Id="rId6" Type="http://schemas.openxmlformats.org/officeDocument/2006/relationships/slide" Target="slides/slide1.xml"/><Relationship Id="rId18" Type="http://schemas.openxmlformats.org/officeDocument/2006/relationships/font" Target="fonts/Catamara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6a5cfd4c94bc819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6a5cfd4c94bc819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081fd01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86081fd01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6081fd01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86081fd01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6081fd018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86081fd018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6081fd01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6081fd01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6081fd018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86081fd018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081fd01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86081fd01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081fd018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86081fd018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ded6e67a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ded6e67a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6081fd01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86081fd01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6081fd01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86081fd01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b="1" i="0" sz="28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b="0" i="0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pdf/2407.17683" TargetMode="External"/><Relationship Id="rId4" Type="http://schemas.openxmlformats.org/officeDocument/2006/relationships/hyperlink" Target="https://arxiv.org/pdf/2310.09442" TargetMode="External"/><Relationship Id="rId5" Type="http://schemas.openxmlformats.org/officeDocument/2006/relationships/hyperlink" Target="https://arxiv.org/pdf/2402.06143" TargetMode="External"/><Relationship Id="rId6" Type="http://schemas.openxmlformats.org/officeDocument/2006/relationships/hyperlink" Target="https://arxiv.org/pdf/2509.18466" TargetMode="External"/><Relationship Id="rId7" Type="http://schemas.openxmlformats.org/officeDocument/2006/relationships/hyperlink" Target="https://arxiv.org/pdf/2408.09253" TargetMode="External"/><Relationship Id="rId8" Type="http://schemas.openxmlformats.org/officeDocument/2006/relationships/hyperlink" Target="https://arxiv.org/pdf/2502.0213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pdf/2407.17683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2407.17683" TargetMode="External"/><Relationship Id="rId4" Type="http://schemas.openxmlformats.org/officeDocument/2006/relationships/image" Target="../media/image15.png"/><Relationship Id="rId11" Type="http://schemas.openxmlformats.org/officeDocument/2006/relationships/image" Target="../media/image3.png"/><Relationship Id="rId10" Type="http://schemas.openxmlformats.org/officeDocument/2006/relationships/image" Target="../media/image14.png"/><Relationship Id="rId9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11.png"/><Relationship Id="rId13" Type="http://schemas.openxmlformats.org/officeDocument/2006/relationships/image" Target="../media/image24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pdf/2407.17683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22.png"/><Relationship Id="rId17" Type="http://schemas.openxmlformats.org/officeDocument/2006/relationships/image" Target="../media/image21.png"/><Relationship Id="rId16" Type="http://schemas.openxmlformats.org/officeDocument/2006/relationships/image" Target="../media/image33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18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pdf/2310.09442" TargetMode="External"/><Relationship Id="rId4" Type="http://schemas.openxmlformats.org/officeDocument/2006/relationships/hyperlink" Target="https://ieeexplore.ieee.org/stamp/stamp.jsp?tp=&amp;arnumber=8594448" TargetMode="External"/><Relationship Id="rId9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pdf/2310.09442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45.png"/><Relationship Id="rId8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hyperlink" Target="https://arxiv.org/pdf/2402.06143" TargetMode="External"/><Relationship Id="rId6" Type="http://schemas.openxmlformats.org/officeDocument/2006/relationships/image" Target="../media/image37.png"/><Relationship Id="rId7" Type="http://schemas.openxmlformats.org/officeDocument/2006/relationships/hyperlink" Target="https://arxiv.org/pdf/2109.1197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pdf/2509.18466" TargetMode="External"/><Relationship Id="rId4" Type="http://schemas.openxmlformats.org/officeDocument/2006/relationships/image" Target="../media/image54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pdf/2509.18466" TargetMode="External"/><Relationship Id="rId4" Type="http://schemas.openxmlformats.org/officeDocument/2006/relationships/image" Target="../media/image56.png"/><Relationship Id="rId9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52.png"/><Relationship Id="rId8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pdf/2408.09253" TargetMode="External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Relationship Id="rId7" Type="http://schemas.openxmlformats.org/officeDocument/2006/relationships/image" Target="../media/image55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ctrTitle"/>
          </p:nvPr>
        </p:nvSpPr>
        <p:spPr>
          <a:xfrm>
            <a:off x="854250" y="934725"/>
            <a:ext cx="7435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6F0A19"/>
                </a:solidFill>
              </a:rPr>
              <a:t>Methodology for integrate RL with MPC</a:t>
            </a:r>
            <a:endParaRPr sz="3200">
              <a:solidFill>
                <a:srgbClr val="6F0A1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>
                <a:solidFill>
                  <a:srgbClr val="6F0A19"/>
                </a:solidFill>
              </a:rPr>
              <a:t>List of papers</a:t>
            </a:r>
            <a:endParaRPr>
              <a:solidFill>
                <a:srgbClr val="6F0A19"/>
              </a:solidFill>
            </a:endParaRPr>
          </a:p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" name="Google Shape;55;p7"/>
          <p:cNvSpPr txBox="1"/>
          <p:nvPr/>
        </p:nvSpPr>
        <p:spPr>
          <a:xfrm>
            <a:off x="867300" y="1598850"/>
            <a:ext cx="73305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3"/>
              </a:rPr>
              <a:t>RL-augmented MPC Framework for Agile and Robust Bipedal Footstep Locomotion Planning and Control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4"/>
              </a:rPr>
              <a:t>Learning Agile Locomotion and Adaptive Behaviors via RL-augmented MPC</a:t>
            </a:r>
            <a:r>
              <a:rPr lang="it" sz="13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5"/>
              </a:rPr>
              <a:t>Reinforcement Learning for Blind Stair Climbing with Legged and Wheeled-Legged Robots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6"/>
              </a:rPr>
              <a:t>RL-augmented Adaptive Model Predictive Control for Bipedal Locomotion over Challenging Terrain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7"/>
              </a:rPr>
              <a:t>Reinforcement Learning Compensated Model Predictive Control for Off-road Driving on Unknown Deformable Terrain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tamaran"/>
              <a:buChar char="●"/>
            </a:pPr>
            <a:r>
              <a:rPr lang="it" sz="13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8"/>
              </a:rPr>
              <a:t>Synthesis of Model Predictive Control and Reinforcement Learning: Survey and Classification</a:t>
            </a:r>
            <a:r>
              <a:rPr lang="it" sz="13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727650" y="159750"/>
            <a:ext cx="76887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RL-augmented MPC Framework for Agile and Robust Bipedal Footstep Locomotion Planning and Control </a:t>
            </a:r>
            <a:endParaRPr sz="2400">
              <a:solidFill>
                <a:srgbClr val="6F0A19"/>
              </a:solidFill>
            </a:endParaRPr>
          </a:p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8"/>
          <p:cNvSpPr txBox="1"/>
          <p:nvPr/>
        </p:nvSpPr>
        <p:spPr>
          <a:xfrm>
            <a:off x="307575" y="929325"/>
            <a:ext cx="3004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T</a:t>
            </a:r>
            <a:r>
              <a:rPr b="1" lang="it" sz="1100"/>
              <a:t>ask</a:t>
            </a:r>
            <a:r>
              <a:rPr b="1" lang="it" sz="1100"/>
              <a:t> and experiments</a:t>
            </a:r>
            <a:r>
              <a:rPr lang="it" sz="1100"/>
              <a:t>:  V</a:t>
            </a:r>
            <a:r>
              <a:rPr lang="it" sz="1100"/>
              <a:t>elocity </a:t>
            </a:r>
            <a:r>
              <a:rPr lang="it" sz="1100"/>
              <a:t>T</a:t>
            </a:r>
            <a:r>
              <a:rPr lang="it" sz="1100"/>
              <a:t>racking, </a:t>
            </a:r>
            <a:r>
              <a:rPr lang="it" sz="1100"/>
              <a:t>T</a:t>
            </a:r>
            <a:r>
              <a:rPr lang="it" sz="1100"/>
              <a:t>urning in place, Robustness against Disturbances, Walking in Sloppy Terrain</a:t>
            </a:r>
            <a:endParaRPr sz="1100"/>
          </a:p>
        </p:txBody>
      </p:sp>
      <p:pic>
        <p:nvPicPr>
          <p:cNvPr id="63" name="Google Shape;6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275" y="817650"/>
            <a:ext cx="3540951" cy="15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59275" y="973075"/>
            <a:ext cx="18873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Robot:  </a:t>
            </a:r>
            <a:r>
              <a:rPr lang="it" sz="1100"/>
              <a:t>Humanoid robot DRACO 3</a:t>
            </a:r>
            <a:endParaRPr sz="13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307575" y="1792100"/>
            <a:ext cx="42795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ALIP-based MPC Footstep Planner (II.A)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The main objective of the ALIP-based MPC footstep planner is to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 compute the desired footholds to enable the angular momentum to converge to a desired state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at the end of each step i.e. angular momentum tracking with 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6" name="Google Shape;6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600" y="3200425"/>
            <a:ext cx="3102225" cy="8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/>
          <p:nvPr/>
        </p:nvSpPr>
        <p:spPr>
          <a:xfrm>
            <a:off x="4348900" y="2442425"/>
            <a:ext cx="4736100" cy="2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m </a:t>
            </a:r>
            <a:r>
              <a:rPr lang="it" sz="1100"/>
              <a:t>robot mass, </a:t>
            </a:r>
            <a:r>
              <a:rPr b="1" lang="it" sz="1100"/>
              <a:t>g</a:t>
            </a:r>
            <a:r>
              <a:rPr lang="it" sz="1100"/>
              <a:t> gr</a:t>
            </a:r>
            <a:r>
              <a:rPr lang="it" sz="1100"/>
              <a:t>a</a:t>
            </a:r>
            <a:r>
              <a:rPr lang="it" sz="1100"/>
              <a:t>vitational constant, </a:t>
            </a:r>
            <a:r>
              <a:rPr b="1" lang="it" sz="1100"/>
              <a:t>zₕ</a:t>
            </a:r>
            <a:r>
              <a:rPr lang="it" sz="1100"/>
              <a:t> constant center of mass (CoM) height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x = [x_c, y_c, L_x, L_y]ᵀ:</a:t>
            </a:r>
            <a:r>
              <a:rPr lang="it" sz="1100"/>
              <a:t> state vecto</a:t>
            </a:r>
            <a:r>
              <a:rPr lang="it" sz="1100"/>
              <a:t>r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it" sz="1100"/>
              <a:t>x_c, y_c:</a:t>
            </a:r>
            <a:r>
              <a:rPr lang="it" sz="1100"/>
              <a:t> </a:t>
            </a:r>
            <a:r>
              <a:rPr lang="it" sz="1100"/>
              <a:t>CoM position in x and y direction relative to stance contact poin</a:t>
            </a:r>
            <a:r>
              <a:rPr lang="it" sz="1100"/>
              <a:t>t ( at each time, one with is the stance ones 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it" sz="1100"/>
              <a:t>L_x, L_y:</a:t>
            </a:r>
            <a:r>
              <a:rPr lang="it" sz="1100"/>
              <a:t> angular momentum about x and y axes of the contact point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u_fp = [u_x, u_y]ᵀ:</a:t>
            </a:r>
            <a:r>
              <a:rPr lang="it" sz="1100"/>
              <a:t> input (control) vector, </a:t>
            </a:r>
            <a:r>
              <a:rPr b="1" lang="it" sz="1100"/>
              <a:t>u_x, u_y </a:t>
            </a:r>
            <a:r>
              <a:rPr lang="it" sz="1100"/>
              <a:t>are new foot placement positions on x-y direction from current stance contact point</a:t>
            </a:r>
            <a:endParaRPr sz="13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8" name="Google Shape;68;p8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043" y="2844343"/>
            <a:ext cx="2171525" cy="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727650" y="159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RL-augmented MPC Framework for Agile and Robust Bipedal Footstep Locomotion Planning and Control </a:t>
            </a:r>
            <a:endParaRPr sz="2400">
              <a:solidFill>
                <a:srgbClr val="6F0A19"/>
              </a:solidFill>
            </a:endParaRPr>
          </a:p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6" name="Google Shape;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925" y="838950"/>
            <a:ext cx="2687600" cy="68708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78175" y="870250"/>
            <a:ext cx="43290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MPC Formulation for Foot Placement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Assume conservation of angular momentum about the contact point before and after each footstep, each step having a fixed time duration of Ts where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∆t is the sampling time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and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N_∆t = Ts/∆t is the number of samples for each step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. For the MPC we have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kinematic constraints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X_kin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, friction cone constraints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X_slip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, and foot placement safety constraints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U</a:t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8" name="Google Shape;7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5100" y="1567925"/>
            <a:ext cx="3044101" cy="13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/>
        </p:nvSpPr>
        <p:spPr>
          <a:xfrm>
            <a:off x="226650" y="2810450"/>
            <a:ext cx="8690700" cy="20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                                                                    sequence of foot placement control </a:t>
            </a:r>
            <a:r>
              <a:rPr lang="it" sz="1100"/>
              <a:t>inputs over the prediction horizon.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                                    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                   </a:t>
            </a:r>
            <a:r>
              <a:rPr b="1" lang="it" sz="1100"/>
              <a:t>to be tracked </a:t>
            </a:r>
            <a:r>
              <a:rPr lang="it" sz="1100"/>
              <a:t>are computed as                              with L_offset being an additional lateral angular momentum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x0 </a:t>
            </a:r>
            <a:r>
              <a:rPr lang="it" sz="1100"/>
              <a:t>is the </a:t>
            </a:r>
            <a:r>
              <a:rPr b="1" lang="it" sz="1100"/>
              <a:t>predicted state just before impact </a:t>
            </a:r>
            <a:r>
              <a:rPr lang="it" sz="1100"/>
              <a:t>during the current step using (1)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T_r </a:t>
            </a:r>
            <a:r>
              <a:rPr lang="it" sz="1100"/>
              <a:t>denotes the remaining duration of the step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R_MPC</a:t>
            </a:r>
            <a:r>
              <a:rPr lang="it" sz="1100"/>
              <a:t> is the rotation matrix considering the desired yaw orientation of the torso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x_cm </a:t>
            </a:r>
            <a:r>
              <a:rPr lang="it" sz="1100"/>
              <a:t>represent the current state measurement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To keep into account rotational dynamics, they </a:t>
            </a:r>
            <a:r>
              <a:rPr b="1" lang="it" sz="1100"/>
              <a:t>utilize the torso yaw rate command </a:t>
            </a:r>
            <a:r>
              <a:rPr lang="it" sz="1100"/>
              <a:t>        to compute the desired foot orientation command          as a one-step ahead prediction, similarly to [7]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475" y="2863388"/>
            <a:ext cx="2687600" cy="2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650" y="3048149"/>
            <a:ext cx="1214950" cy="2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475" y="3263150"/>
            <a:ext cx="719314" cy="2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0250" y="3278890"/>
            <a:ext cx="1082275" cy="1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11400" y="4212375"/>
            <a:ext cx="343544" cy="2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49775" y="4383856"/>
            <a:ext cx="277350" cy="2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727650" y="159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RL-augmented MPC Framework for Agile and Robust Bipedal Footstep Locomotion Planning and Control </a:t>
            </a:r>
            <a:endParaRPr sz="2400">
              <a:solidFill>
                <a:srgbClr val="6F0A19"/>
              </a:solidFill>
            </a:endParaRPr>
          </a:p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2" name="Google Shape;92;p10"/>
          <p:cNvSpPr txBox="1"/>
          <p:nvPr/>
        </p:nvSpPr>
        <p:spPr>
          <a:xfrm>
            <a:off x="353450" y="921750"/>
            <a:ext cx="35793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RL goal: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learn a policy             to achieve a final policy 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                               with the initial policy generated from the ALIP-based MPC process. (PPO algorithm)  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250" y="779800"/>
            <a:ext cx="4748999" cy="220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6000" y="961400"/>
            <a:ext cx="353200" cy="1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725" y="1196825"/>
            <a:ext cx="1068602" cy="1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 txBox="1"/>
          <p:nvPr/>
        </p:nvSpPr>
        <p:spPr>
          <a:xfrm>
            <a:off x="384713" y="1714800"/>
            <a:ext cx="36831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Action Space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residual action is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where                 denotes the position deviation from the footstep position          in the xy directions, and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represents the angle deviation from the footstep yaw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97" name="Google Shape;97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27922" y="1739097"/>
            <a:ext cx="1163650" cy="23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7063" y="1988188"/>
            <a:ext cx="548700" cy="14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5263" y="2112013"/>
            <a:ext cx="300725" cy="2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48047" y="2128475"/>
            <a:ext cx="497179" cy="2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/>
        </p:nvSpPr>
        <p:spPr>
          <a:xfrm>
            <a:off x="326475" y="3084050"/>
            <a:ext cx="474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Observation Space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sigma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indicator for stance foot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Tr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remaining foot swing time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state of the ALIP model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yaw_k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torso orientation, swing foot orientation, torso angular velocity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desired commands</a:t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policy action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taken in the previous step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02" name="Google Shape;102;p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66000" y="3102624"/>
            <a:ext cx="2970811" cy="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27925" y="3679400"/>
            <a:ext cx="2039075" cy="1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76123" y="4020150"/>
            <a:ext cx="1272825" cy="178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19141" y="4198641"/>
            <a:ext cx="1163665" cy="1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248050" y="4338942"/>
            <a:ext cx="1272834" cy="1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/>
          <p:nvPr/>
        </p:nvSpPr>
        <p:spPr>
          <a:xfrm>
            <a:off x="5339238" y="3030700"/>
            <a:ext cx="33636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Reward function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Specifically, r_sw and r_end are utilized during the intra-step and leg switching phases, respectively. Set of termination states are :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71400" y="3030700"/>
            <a:ext cx="2279376" cy="492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395282" y="4531180"/>
            <a:ext cx="3516760" cy="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395275" y="3440000"/>
            <a:ext cx="196111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727650" y="1495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Learning Agile Locomotion and Adaptive Behaviors via RL-augmented MPC </a:t>
            </a:r>
            <a:endParaRPr sz="2400">
              <a:solidFill>
                <a:srgbClr val="6F0A19"/>
              </a:solidFill>
            </a:endParaRPr>
          </a:p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307575" y="929325"/>
            <a:ext cx="300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Task</a:t>
            </a:r>
            <a:r>
              <a:rPr b="1" lang="it" sz="1100"/>
              <a:t> and experiments</a:t>
            </a:r>
            <a:r>
              <a:rPr lang="it" sz="1100"/>
              <a:t>: High Speed Turning, High-Speed Running and Steering, Walking with Significant Model Uncertainty, Blind Walking over Discrete Terrain</a:t>
            </a:r>
            <a:endParaRPr sz="1100"/>
          </a:p>
        </p:txBody>
      </p:sp>
      <p:sp>
        <p:nvSpPr>
          <p:cNvPr id="118" name="Google Shape;118;p11"/>
          <p:cNvSpPr txBox="1"/>
          <p:nvPr/>
        </p:nvSpPr>
        <p:spPr>
          <a:xfrm>
            <a:off x="3259275" y="973075"/>
            <a:ext cx="18873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Robot:  </a:t>
            </a:r>
            <a:r>
              <a:rPr lang="it" sz="1100"/>
              <a:t>4-legged robot  Unitree A1</a:t>
            </a:r>
            <a:endParaRPr sz="13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307575" y="1792100"/>
            <a:ext cx="4363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4"/>
              </a:rPr>
              <a:t>MPC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compute ground reaction forces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instead swing feet will follow a predefined trajectory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20" name="Google Shape;12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8800" y="1850375"/>
            <a:ext cx="957150" cy="2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2850" y="684700"/>
            <a:ext cx="3674175" cy="77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0050" y="1590175"/>
            <a:ext cx="1644900" cy="7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2125" y="2740678"/>
            <a:ext cx="3674175" cy="189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8950" y="2571744"/>
            <a:ext cx="3872926" cy="12702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 txBox="1"/>
          <p:nvPr/>
        </p:nvSpPr>
        <p:spPr>
          <a:xfrm>
            <a:off x="498300" y="3797550"/>
            <a:ext cx="409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Force constraint (20)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foot selection (21), the one is swing must have no reaction force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727650" y="1495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Learning Agile Locomotion and Adaptive Behaviors via RL-augmented MPC </a:t>
            </a:r>
            <a:endParaRPr sz="2400">
              <a:solidFill>
                <a:srgbClr val="6F0A19"/>
              </a:solidFill>
            </a:endParaRPr>
          </a:p>
        </p:txBody>
      </p:sp>
      <p:sp>
        <p:nvSpPr>
          <p:cNvPr id="131" name="Google Shape;13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2" name="Google Shape;13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6125" y="563775"/>
            <a:ext cx="5077875" cy="210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/>
        </p:nvSpPr>
        <p:spPr>
          <a:xfrm>
            <a:off x="173925" y="563775"/>
            <a:ext cx="40179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atamaran"/>
                <a:ea typeface="Catamaran"/>
                <a:cs typeface="Catamaran"/>
                <a:sym typeface="Catamaran"/>
              </a:rPr>
              <a:t>RL goal</a:t>
            </a:r>
            <a:r>
              <a:rPr lang="it" sz="1200">
                <a:latin typeface="Catamaran"/>
                <a:ea typeface="Catamaran"/>
                <a:cs typeface="Catamaran"/>
                <a:sym typeface="Catamaran"/>
              </a:rPr>
              <a:t>: enhancement of foot placement and swing trajectory (PPO algorithm)</a:t>
            </a:r>
            <a:endParaRPr sz="12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73925" y="1120075"/>
            <a:ext cx="40179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atamaran"/>
                <a:ea typeface="Catamaran"/>
                <a:cs typeface="Catamaran"/>
                <a:sym typeface="Catamaran"/>
              </a:rPr>
              <a:t>Action Space</a:t>
            </a:r>
            <a:r>
              <a:rPr lang="it" sz="1200">
                <a:latin typeface="Catamaran"/>
                <a:ea typeface="Catamaran"/>
                <a:cs typeface="Catamaran"/>
                <a:sym typeface="Catamaran"/>
              </a:rPr>
              <a:t>: learning module computes both dynamics compensation components                       and swing foot deviation          from the nominal swing trajectory.</a:t>
            </a:r>
            <a:endParaRPr sz="12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2625" y="1365375"/>
            <a:ext cx="814350" cy="2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9975" y="1575348"/>
            <a:ext cx="279953" cy="2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 txBox="1"/>
          <p:nvPr/>
        </p:nvSpPr>
        <p:spPr>
          <a:xfrm>
            <a:off x="173925" y="3170200"/>
            <a:ext cx="4675800" cy="1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Observation Space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Joint angles and velocities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Linear and angular velocities of the COM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Planned contact state</a:t>
            </a:r>
            <a:r>
              <a:rPr lang="it" sz="1100"/>
              <a:t> of each foot from gait schedule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Actual contact state</a:t>
            </a:r>
            <a:r>
              <a:rPr lang="it" sz="1100"/>
              <a:t> from contact sensors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Desired COM state</a:t>
            </a:r>
            <a:r>
              <a:rPr lang="it" sz="1100"/>
              <a:t> from user input v_des, w_des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Heuristic foot placement</a:t>
            </a:r>
            <a:r>
              <a:rPr lang="it" sz="1100"/>
              <a:t> for each foot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Acceleration from force command </a:t>
            </a:r>
            <a:r>
              <a:rPr lang="it" sz="1100"/>
              <a:t>of MPC optimization F/m. Similar to dynamics compensation, the ground reaction force command is expressed in terms of acceleration. 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4977175" y="2882847"/>
            <a:ext cx="4017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Reward function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designed to ensure velocity tracking of the robot while minimizing the energy cost.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2375" y="3487350"/>
            <a:ext cx="3064500" cy="162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9574" y="1772450"/>
            <a:ext cx="3064501" cy="639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1950" y="2120525"/>
            <a:ext cx="2136131" cy="90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550" y="3733026"/>
            <a:ext cx="3462387" cy="13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125" y="3948275"/>
            <a:ext cx="3161265" cy="11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>
            <p:ph type="title"/>
          </p:nvPr>
        </p:nvSpPr>
        <p:spPr>
          <a:xfrm>
            <a:off x="727650" y="190850"/>
            <a:ext cx="7688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Reinforcement Learning for Blind Stair Climbing with Legged and Wheeled-Legged Robots </a:t>
            </a:r>
            <a:endParaRPr sz="1700">
              <a:solidFill>
                <a:srgbClr val="6F0A19"/>
              </a:solidFill>
            </a:endParaRPr>
          </a:p>
        </p:txBody>
      </p:sp>
      <p:sp>
        <p:nvSpPr>
          <p:cNvPr id="149" name="Google Shape;14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9400" y="819975"/>
            <a:ext cx="5694600" cy="139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/>
          <p:nvPr/>
        </p:nvSpPr>
        <p:spPr>
          <a:xfrm>
            <a:off x="234325" y="596675"/>
            <a:ext cx="37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RL task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position-based navigation task, simulation only 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234325" y="1391175"/>
            <a:ext cx="3383700" cy="12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Actions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The actions are a vector of robot-dependent dimensions. For the articulated joints, the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commands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are directly interpreted as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goal positions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to be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tracked by a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low level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 PD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controller. Analogously, actions are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interpreted as target angular velocities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for the wheeled joints. </a:t>
            </a:r>
            <a:endParaRPr sz="11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234325" y="771950"/>
            <a:ext cx="27264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Robot:  </a:t>
            </a:r>
            <a:r>
              <a:rPr lang="it" sz="1100"/>
              <a:t>Ascento Robot, Unitree Go1, Cassie and ANYmal on Wheels climbing steps</a:t>
            </a:r>
            <a:endParaRPr sz="11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3390400" y="2177600"/>
            <a:ext cx="56946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State</a:t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observation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used in training and deployment contain joint position and velocity, projected gravity, angular velocity, 2D goal direction, heading error, terrain boolean ( for stair-climbing mode )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privileged information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ground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truth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, contact forces and friction coefficients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234325" y="2571750"/>
            <a:ext cx="3383700" cy="1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Rewards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sum of </a:t>
            </a:r>
            <a:r>
              <a:rPr lang="it" sz="1100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7"/>
              </a:rPr>
              <a:t>standard robot-specific shaping rewards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and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 </a:t>
            </a:r>
            <a:r>
              <a:rPr b="1" lang="it" sz="1100"/>
              <a:t>Re</a:t>
            </a:r>
            <a:r>
              <a:rPr b="1" lang="it" sz="1100"/>
              <a:t>ward #1 (</a:t>
            </a:r>
            <a:r>
              <a:rPr lang="it" sz="1100"/>
              <a:t> Only in last 2 s; encourages reaching the goal ), </a:t>
            </a:r>
            <a:r>
              <a:rPr b="1" lang="it" sz="1100"/>
              <a:t>Reward #2 (</a:t>
            </a:r>
            <a:r>
              <a:rPr lang="it" sz="1100"/>
              <a:t> Temporary; rewards progress toward goal until halfway to best Reward #1), </a:t>
            </a:r>
            <a:r>
              <a:rPr b="1" lang="it" sz="1100"/>
              <a:t>Reward #3 (</a:t>
            </a:r>
            <a:r>
              <a:rPr lang="it" sz="1100"/>
              <a:t> Penalizes stalling unless near goal ) </a:t>
            </a:r>
            <a:r>
              <a:rPr b="1" lang="it" sz="1100"/>
              <a:t>Reward #4 ( </a:t>
            </a:r>
            <a:r>
              <a:rPr lang="it" sz="1100"/>
              <a:t>Encourages facing the goal )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727650" y="190850"/>
            <a:ext cx="7688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RL-augmented Adaptive Model Predictive Control for Bipedal Locomotion over Challenging Terrain </a:t>
            </a:r>
            <a:endParaRPr sz="1700">
              <a:solidFill>
                <a:srgbClr val="6F0A19"/>
              </a:solidFill>
            </a:endParaRPr>
          </a:p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275575" y="929325"/>
            <a:ext cx="3004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Task and experiments</a:t>
            </a:r>
            <a:r>
              <a:rPr lang="it" sz="1100"/>
              <a:t>: walking in Pyramid stairs, random stairs, stepping stones, slippery surface</a:t>
            </a:r>
            <a:endParaRPr sz="1100"/>
          </a:p>
        </p:txBody>
      </p:sp>
      <p:sp>
        <p:nvSpPr>
          <p:cNvPr id="163" name="Google Shape;163;p14"/>
          <p:cNvSpPr txBox="1"/>
          <p:nvPr/>
        </p:nvSpPr>
        <p:spPr>
          <a:xfrm>
            <a:off x="345025" y="2412025"/>
            <a:ext cx="35043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bjective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trajectory error minimization</a:t>
            </a:r>
            <a:endParaRPr b="1"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Chi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composed by state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x_k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and control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u_k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at all timesteps k = 0, .., N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dynamic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constraint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(2a),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contact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constraints (2b),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friction pyramid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(2c), force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saturation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(2d),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line contact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constraint (2e)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F_k and M_k represent ground reaction force and moment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Output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contact wrench [F, M] to track reference trajectory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3227275" y="973075"/>
            <a:ext cx="18873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Robot: </a:t>
            </a:r>
            <a:r>
              <a:rPr lang="it" sz="1100"/>
              <a:t>Hector robot</a:t>
            </a:r>
            <a:endParaRPr sz="13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750" y="2453700"/>
            <a:ext cx="3544075" cy="15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7925" y="1593525"/>
            <a:ext cx="2971500" cy="8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/>
        </p:nvSpPr>
        <p:spPr>
          <a:xfrm>
            <a:off x="5570925" y="960500"/>
            <a:ext cx="29655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Modelling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Single Rigid Body Dynamics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State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Control input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1825" y="1227475"/>
            <a:ext cx="1389950" cy="1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77189" y="1410500"/>
            <a:ext cx="1100510" cy="1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727650" y="190850"/>
            <a:ext cx="7688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RL-augmented Adaptive Model Predictive Control for Bipedal Locomotion over Challenging Terrain </a:t>
            </a:r>
            <a:endParaRPr sz="1700">
              <a:solidFill>
                <a:srgbClr val="6F0A19"/>
              </a:solidFill>
            </a:endParaRPr>
          </a:p>
        </p:txBody>
      </p:sp>
      <p:sp>
        <p:nvSpPr>
          <p:cNvPr id="175" name="Google Shape;175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76" name="Google Shape;1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925" y="995450"/>
            <a:ext cx="5301674" cy="15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/>
        </p:nvSpPr>
        <p:spPr>
          <a:xfrm>
            <a:off x="256125" y="792425"/>
            <a:ext cx="3633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RL goal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Soft Actor Critic for augment system dynamics, shape  swing leg trajectory and phases duration 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256125" y="1254425"/>
            <a:ext cx="3633300" cy="24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dynamics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is shaped with a term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fr(x,u)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residual dynamics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It is assumed that moments do no affect linear acceleration and forces passive from 6x12 matrix to two matrix 3x3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Further simplification is done imposing those matrix are diagonal passing from 9 to 3 variable for each matrix,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consequently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12 parameters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are learned with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fx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being residual acceleration and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fu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residual actuation matricies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225" y="1496075"/>
            <a:ext cx="2144725" cy="306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675" y="2158475"/>
            <a:ext cx="2383810" cy="6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0525" y="3878412"/>
            <a:ext cx="2413150" cy="7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365125" y="3714750"/>
            <a:ext cx="36333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256125" y="3714725"/>
            <a:ext cx="34053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Bézier curve for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trajectory </a:t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is adapted by computing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control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point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were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p0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is the stance foot,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p_foothold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planned foothold,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h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apex height. RL learn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residual apex height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and control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point coefficient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84" name="Google Shape;18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5454" y="3778225"/>
            <a:ext cx="1469851" cy="21860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6198275" y="3431975"/>
            <a:ext cx="2726100" cy="16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Action space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has 12+2+1 dimension while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observation space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is composed by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proprioceptive information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including base linear and angular velocities, joint position and velocity, command velocity and projected gravity vector,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foot state 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( foot position, reference foot position, planned footholds, swings phase) and </a:t>
            </a: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action at previous timestep</a:t>
            </a:r>
            <a:endParaRPr b="1"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3816700" y="2525963"/>
            <a:ext cx="48765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Gait adaptation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controller use a pre-generated periodic gait for the contact sequence. Variable walking gait is achieved by parametrizing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Ts = H*dt_mpc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where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H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is MPC’s horzing and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dt_mpc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represent sampling time. Therefore step duration is manipulated as                                  where we modify the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nominal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sampling time learning parameters </a:t>
            </a: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s</a:t>
            </a:r>
            <a:endParaRPr b="1" sz="11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8827" y="3092899"/>
            <a:ext cx="1012696" cy="2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727650" y="190850"/>
            <a:ext cx="768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rgbClr val="6F0A1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Reinforcement Learning Compensated Model Predictive Control for Off-road Driving on Unknown Deformable Terrain </a:t>
            </a:r>
            <a:endParaRPr sz="1700">
              <a:solidFill>
                <a:srgbClr val="6F0A19"/>
              </a:solidFill>
            </a:endParaRPr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94" name="Google Shape;1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75" y="2779050"/>
            <a:ext cx="2240500" cy="16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275575" y="929325"/>
            <a:ext cx="30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Task and experiments</a:t>
            </a:r>
            <a:r>
              <a:rPr lang="it" sz="1100"/>
              <a:t>: tracking on different unknow deformable terrain</a:t>
            </a:r>
            <a:endParaRPr sz="1100"/>
          </a:p>
        </p:txBody>
      </p:sp>
      <p:sp>
        <p:nvSpPr>
          <p:cNvPr id="196" name="Google Shape;196;p16"/>
          <p:cNvSpPr txBox="1"/>
          <p:nvPr/>
        </p:nvSpPr>
        <p:spPr>
          <a:xfrm>
            <a:off x="3227275" y="973075"/>
            <a:ext cx="10011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/>
              <a:t>Robot: </a:t>
            </a:r>
            <a:r>
              <a:rPr lang="it" sz="1100"/>
              <a:t>car</a:t>
            </a:r>
            <a:endParaRPr sz="13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228175" y="1373800"/>
            <a:ext cx="35043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Objective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error minimization</a:t>
            </a:r>
            <a:endParaRPr b="1"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x_i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vehicle state = bicycle state + slip angle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u_i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linear and angular velocity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Output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optimized controls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98" name="Google Shape;1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206" y="929322"/>
            <a:ext cx="3756970" cy="8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 txBox="1"/>
          <p:nvPr/>
        </p:nvSpPr>
        <p:spPr>
          <a:xfrm>
            <a:off x="4359200" y="959925"/>
            <a:ext cx="32541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RL goal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manipulate control input to the MPC and account for unmodelled dynamics (AC2 + MPC )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3802800" y="1799625"/>
            <a:ext cx="3004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observation space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current vehicle speed, target speed, action history taken and speed tracking error history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tamaran"/>
              <a:buChar char="●"/>
            </a:pPr>
            <a:r>
              <a:rPr b="1"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action space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: throttle command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201" name="Google Shape;20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0811" y="3198525"/>
            <a:ext cx="3004501" cy="762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8125" y="3157775"/>
            <a:ext cx="3905875" cy="9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6658075" y="1799625"/>
            <a:ext cx="2555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r1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base reward function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tamaran"/>
              <a:buChar char="●"/>
            </a:pPr>
            <a:r>
              <a:rPr b="1" lang="it" sz="1100">
                <a:latin typeface="Catamaran"/>
                <a:ea typeface="Catamaran"/>
                <a:cs typeface="Catamaran"/>
                <a:sym typeface="Catamaran"/>
              </a:rPr>
              <a:t>r2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: penalize control actions when apply 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unnecessary</a:t>
            </a:r>
            <a:r>
              <a:rPr lang="it" sz="1100">
                <a:latin typeface="Catamaran"/>
                <a:ea typeface="Catamaran"/>
                <a:cs typeface="Catamaran"/>
                <a:sym typeface="Catamaran"/>
              </a:rPr>
              <a:t> controls</a:t>
            </a:r>
            <a:endParaRPr sz="11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3916150" y="4187450"/>
            <a:ext cx="2470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Finally</a:t>
            </a:r>
            <a:r>
              <a:rPr lang="it" sz="11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control input to the system</a:t>
            </a:r>
            <a:endParaRPr sz="11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925" y="4208913"/>
            <a:ext cx="1441987" cy="2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2489025" y="2261100"/>
            <a:ext cx="42615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6F0A19"/>
                </a:solidFill>
              </a:rPr>
              <a:t>End of the papers</a:t>
            </a:r>
            <a:endParaRPr sz="2800">
              <a:solidFill>
                <a:srgbClr val="6F0A19"/>
              </a:solidFill>
            </a:endParaRPr>
          </a:p>
        </p:txBody>
      </p:sp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